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6"/>
    <p:sldId id="266" r:id="rId17"/>
    <p:sldId id="267" r:id="rId18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  <Relationship Id="rId16" Type="http://schemas.openxmlformats.org/officeDocument/2006/relationships/slide" Target="slides/slide10.xml"/>
  <Relationship Id="rId17" Type="http://schemas.openxmlformats.org/officeDocument/2006/relationships/slide" Target="slides/slide11.xml"/>
  <Relationship Id="rId18" Type="http://schemas.openxmlformats.org/officeDocument/2006/relationships/slide" Target="slides/slide12.xml"/>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8-3.png"/><Relationship Id="rId3" Type="http://schemas.openxmlformats.org/officeDocument/2006/relationships/image" Target="../media/image-8-2.png"/><Relationship Id="rId4" Type="http://schemas.openxmlformats.org/officeDocument/2006/relationships/image" Target="../media/image-search-cyan.png"/><Relationship Id="rId5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image" Target="../media/image-7-4.png"/><Relationship Id="rId4" Type="http://schemas.openxmlformats.org/officeDocument/2006/relationships/image" Target="../media/image-search-purple.png"/><Relationship Id="rId5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3977640" y="5486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ORÁCULO</a:t>
            </a:r>
            <a:endParaRPr lang="en-US" sz="5200" dirty="0"/>
          </a:p>
        </p:txBody>
      </p:sp>
      <p:sp>
        <p:nvSpPr>
          <p:cNvPr id="6" name="Text 2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proposta de evolução do Helpdesk da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utilizando Inteligência Artificial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 através de um protótipo funcional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74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Helpdesk recebe diariamente solicitações de diferentes níveis de complexidade. Parte dessas demandas exige conhecimento técnico e intervenção humana, enquanto outra parcela envolve dúvidas e problemas simples que poderiam ser resolvidos de forma imediata.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457200" y="1965960"/>
            <a:ext cx="3840480" cy="283464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D4FF">
                <a:alpha val="15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 Superficial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731520" y="26060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faço para acessar o Wi-Fi?"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redefino minha senha?"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"Onde encontro determinado sistema?"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configuro o e-mail institucional?"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"Meu acesso não funciona, o que devo verificar?"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"Onde encontro o manual/procedimento?"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faço determinada solicitação?"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4846320" y="1965960"/>
            <a:ext cx="3840480" cy="283464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16200000">
              <a:srgbClr val="A855F7">
                <a:alpha val="15000"/>
              </a:srgbClr>
            </a:outerShdw>
          </a:effectLst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4884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4068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 Real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5120640" y="26060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de infraestrutura de rede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conectividade que exigem diagnóstico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Indisponibilidade de sistemas ou serviços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hardware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de autenticação irresolvíveis pelo usuário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no ambiente de infraestrutura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que dependem de acesso administrativo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EXPEDIENTE PESA DEMAIS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51760" cy="3566160"/>
          </a:xfrm>
          <a:prstGeom prst="roundRect">
            <a:avLst/>
          </a:prstGeom>
          <a:solidFill>
            <a:srgbClr val="111D38"/>
          </a:solidFill>
          <a:ln w="12700">
            <a:solidFill>
              <a:srgbClr val="1A3D66"/>
            </a:solidFill>
            <a:prstDash val="solid"/>
          </a:ln>
          <a:effectLst>
            <a:outerShdw sx="100000" sy="100000" kx="0" ky="0" algn="bl" rotWithShape="0" blurRad="127000" dist="50800" dir="16200000">
              <a:srgbClr val="00D4FF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325880" y="1371600"/>
            <a:ext cx="914400" cy="914400"/>
          </a:xfrm>
          <a:prstGeom prst="ellipse">
            <a:avLst/>
          </a:prstGeom>
          <a:solidFill>
            <a:srgbClr val="111D38"/>
          </a:solidFill>
          <a:ln w="25400">
            <a:solidFill>
              <a:srgbClr val="00D4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55448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40080" y="29260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dedica grande parte do seu tempo respondendo dúvidas e orientando procedimentos recorrentes.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291840" y="1097280"/>
            <a:ext cx="2651760" cy="3566160"/>
          </a:xfrm>
          <a:prstGeom prst="roundRect">
            <a:avLst/>
          </a:prstGeom>
          <a:solidFill>
            <a:srgbClr val="111D38"/>
          </a:solidFill>
          <a:ln w="12700">
            <a:solidFill>
              <a:srgbClr val="2D1A55"/>
            </a:solidFill>
            <a:prstDash val="solid"/>
          </a:ln>
          <a:effectLst>
            <a:outerShdw sx="100000" sy="100000" kx="0" ky="0" algn="bl" rotWithShape="0" blurRad="127000" dist="50800" dir="16200000">
              <a:srgbClr val="A855F7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160520" y="1371600"/>
            <a:ext cx="914400" cy="914400"/>
          </a:xfrm>
          <a:prstGeom prst="ellipse">
            <a:avLst/>
          </a:prstGeom>
          <a:solidFill>
            <a:srgbClr val="111D38"/>
          </a:solidFill>
          <a:ln w="25400">
            <a:solidFill>
              <a:srgbClr val="A855F7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55448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2900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Retrabalho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3474720" y="29260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já conhecidos precisam ser explicados repetidamente, gerando esforço desnecessário.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126480" y="1097280"/>
            <a:ext cx="2651760" cy="3566160"/>
          </a:xfrm>
          <a:prstGeom prst="roundRect">
            <a:avLst/>
          </a:prstGeom>
          <a:solidFill>
            <a:srgbClr val="111D38"/>
          </a:solidFill>
          <a:ln w="12700">
            <a:solidFill>
              <a:srgbClr val="1A3D66"/>
            </a:solidFill>
            <a:prstDash val="solid"/>
          </a:ln>
          <a:effectLst>
            <a:outerShdw sx="100000" sy="100000" kx="0" ky="0" algn="bl" rotWithShape="0" blurRad="127000" dist="50800" dir="16200000">
              <a:srgbClr val="00D4FF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995160" y="1371600"/>
            <a:ext cx="914400" cy="914400"/>
          </a:xfrm>
          <a:prstGeom prst="ellipse">
            <a:avLst/>
          </a:prstGeom>
          <a:solidFill>
            <a:srgbClr val="111D38"/>
          </a:solidFill>
          <a:ln w="25400">
            <a:solidFill>
              <a:srgbClr val="00D4F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55448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6364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Experiência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6309360" y="29260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aguarda atendimento para situações que poderiam ter uma solução imediata e automatizada.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parte dessas demandas pudesse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resolvida antes de chegar ao Helpdesk?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0" y="2011680"/>
            <a:ext cx="1828800" cy="1828800"/>
          </a:xfrm>
          <a:prstGeom prst="ellipse">
            <a:avLst/>
          </a:prstGeom>
          <a:solidFill>
            <a:srgbClr val="111D38"/>
          </a:solidFill>
          <a:ln w="38100">
            <a:solidFill>
              <a:srgbClr val="00D4FF"/>
            </a:solidFill>
            <a:prstDash val="solid"/>
          </a:ln>
          <a:effectLst>
            <a:outerShdw sx="100000" sy="100000" kx="0" ky="0" algn="bl" rotWithShape="0" blurRad="254000" dist="50800" dir="16200000">
              <a:srgbClr val="00D4FF">
                <a:alpha val="2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2331720"/>
            <a:ext cx="1188720" cy="1188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2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 INTELIGÊNCIA ARTIFICIAL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novo fluxo para o atendimento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 ×  COM A SOLUÇÃO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74320" y="1188720"/>
            <a:ext cx="4114800" cy="3291840"/>
          </a:xfrm>
          <a:prstGeom prst="roundRect">
            <a:avLst/>
          </a:prstGeom>
          <a:solidFill>
            <a:srgbClr val="111D38"/>
          </a:solidFill>
          <a:ln w="12700">
            <a:solidFill>
              <a:srgbClr val="1A2D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ATUALMENTE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1097280" cy="64008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618488" y="2057400"/>
            <a:ext cx="164592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783080" y="1874520"/>
            <a:ext cx="1097280" cy="64008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78308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898648" y="2057400"/>
            <a:ext cx="164592" cy="16459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063240" y="1874520"/>
            <a:ext cx="1097280" cy="64008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06324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02920" y="3063240"/>
            <a:ext cx="1097280" cy="64008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02920" y="3063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618488" y="3246120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783080" y="3063240"/>
            <a:ext cx="1097280" cy="64008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783080" y="3063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2898648" y="3246120"/>
            <a:ext cx="164592" cy="16459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063240" y="3063240"/>
            <a:ext cx="1097280" cy="64008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3063240" y="3063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3611880" y="2560320"/>
            <a:ext cx="0" cy="41148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  <a:tailEnd type="triangle"/>
          </a:ln>
        </p:spPr>
      </p:sp>
      <p:sp>
        <p:nvSpPr>
          <p:cNvPr id="24" name="Text 17"/>
          <p:cNvSpPr/>
          <p:nvPr/>
        </p:nvSpPr>
        <p:spPr>
          <a:xfrm>
            <a:off x="457200" y="3794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solicitações seguem o mesmo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até chegar à equipe.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754880" y="1188720"/>
            <a:ext cx="4114800" cy="329184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50800" dir="16200000">
              <a:srgbClr val="00D4FF">
                <a:alpha val="10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493776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SOLUÇÃO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4983480" y="1874520"/>
            <a:ext cx="1097280" cy="64008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1A3D66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98348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0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048" y="2075688"/>
            <a:ext cx="146304" cy="146304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263640" y="1874520"/>
            <a:ext cx="1097280" cy="640080"/>
          </a:xfrm>
          <a:prstGeom prst="roundRect">
            <a:avLst/>
          </a:prstGeom>
          <a:solidFill>
            <a:srgbClr val="0D2A4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26364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Inteligente</a:t>
            </a:r>
            <a:endParaRPr lang="en-US" sz="10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9208" y="2075688"/>
            <a:ext cx="146304" cy="146304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7543800" y="1874520"/>
            <a:ext cx="1097280" cy="64008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1A3D66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754380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498348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Simples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4983480" y="2971800"/>
            <a:ext cx="1005840" cy="548640"/>
          </a:xfrm>
          <a:prstGeom prst="roundRect">
            <a:avLst/>
          </a:prstGeom>
          <a:solidFill>
            <a:srgbClr val="0D2A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4983480" y="2971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Autoatend.</a:t>
            </a:r>
            <a:endParaRPr lang="en-US" sz="10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7608" y="3136392"/>
            <a:ext cx="128016" cy="128016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6126480" y="2971800"/>
            <a:ext cx="1005840" cy="548640"/>
          </a:xfrm>
          <a:prstGeom prst="roundRect">
            <a:avLst/>
          </a:prstGeom>
          <a:solidFill>
            <a:srgbClr val="0D2A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6126480" y="2971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 ✓</a:t>
            </a:r>
            <a:endParaRPr lang="en-US" sz="1000" dirty="0"/>
          </a:p>
        </p:txBody>
      </p:sp>
      <p:sp>
        <p:nvSpPr>
          <p:cNvPr id="41" name="Text 31"/>
          <p:cNvSpPr/>
          <p:nvPr/>
        </p:nvSpPr>
        <p:spPr>
          <a:xfrm>
            <a:off x="713232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Complexa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7132320" y="2971800"/>
            <a:ext cx="868680" cy="548640"/>
          </a:xfrm>
          <a:prstGeom prst="roundRect">
            <a:avLst/>
          </a:prstGeom>
          <a:solidFill>
            <a:srgbClr val="1A104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7132320" y="2971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</a:t>
            </a:r>
            <a:endParaRPr lang="en-US" sz="90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3136392"/>
            <a:ext cx="128016" cy="128016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8092440" y="2971800"/>
            <a:ext cx="868680" cy="548640"/>
          </a:xfrm>
          <a:prstGeom prst="roundRect">
            <a:avLst/>
          </a:prstGeom>
          <a:solidFill>
            <a:srgbClr val="1A104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8092440" y="2971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Atend. Téc.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4937760" y="3794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o simples rapidamente.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Direcionar o complexo corretamente.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ISSO MUDA PARA O HELPDESK?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3931920" cy="4572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754880" y="1051560"/>
            <a:ext cx="3931920" cy="457200"/>
          </a:xfrm>
          <a:prstGeom prst="roundRect">
            <a:avLst/>
          </a:prstGeom>
          <a:solidFill>
            <a:srgbClr val="0D2A4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solução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1645920"/>
            <a:ext cx="3931920" cy="548640"/>
          </a:xfrm>
          <a:prstGeom prst="roundRect">
            <a:avLst/>
          </a:prstGeom>
          <a:solidFill>
            <a:srgbClr val="111D38"/>
          </a:solidFill>
          <a:ln w="6350">
            <a:solidFill>
              <a:srgbClr val="1A2D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dúvidas repetitivas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764792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54880" y="1645920"/>
            <a:ext cx="3931920" cy="548640"/>
          </a:xfrm>
          <a:prstGeom prst="roundRect">
            <a:avLst/>
          </a:prstGeom>
          <a:solidFill>
            <a:srgbClr val="0D2A4A"/>
          </a:solidFill>
          <a:ln w="6350">
            <a:solidFill>
              <a:srgbClr val="1A3D6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9204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Autoatendimento para dúvidas recorrentes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286000"/>
            <a:ext cx="3931920" cy="548640"/>
          </a:xfrm>
          <a:prstGeom prst="roundRect">
            <a:avLst/>
          </a:prstGeom>
          <a:solidFill>
            <a:srgbClr val="111D38"/>
          </a:solidFill>
          <a:ln w="6350">
            <a:solidFill>
              <a:srgbClr val="1A2D5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gasto com orientações simples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404872"/>
            <a:ext cx="274320" cy="2743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754880" y="2286000"/>
            <a:ext cx="3931920" cy="548640"/>
          </a:xfrm>
          <a:prstGeom prst="roundRect">
            <a:avLst/>
          </a:prstGeom>
          <a:solidFill>
            <a:srgbClr val="0D2A4A"/>
          </a:solidFill>
          <a:ln w="6350">
            <a:solidFill>
              <a:srgbClr val="1A3D6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89204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focada em demandas complexas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3931920" cy="548640"/>
          </a:xfrm>
          <a:prstGeom prst="roundRect">
            <a:avLst/>
          </a:prstGeom>
          <a:solidFill>
            <a:srgbClr val="111D38"/>
          </a:solidFill>
          <a:ln w="6350">
            <a:solidFill>
              <a:srgbClr val="1A2D5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94360" y="2926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aguarda atendimento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044952"/>
            <a:ext cx="274320" cy="27432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754880" y="2926080"/>
            <a:ext cx="3931920" cy="548640"/>
          </a:xfrm>
          <a:prstGeom prst="roundRect">
            <a:avLst/>
          </a:prstGeom>
          <a:solidFill>
            <a:srgbClr val="0D2A4A"/>
          </a:solidFill>
          <a:ln w="6350">
            <a:solidFill>
              <a:srgbClr val="1A3D66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892040" y="2926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imediata para casos simples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3566160"/>
            <a:ext cx="3931920" cy="548640"/>
          </a:xfrm>
          <a:prstGeom prst="roundRect">
            <a:avLst/>
          </a:prstGeom>
          <a:solidFill>
            <a:srgbClr val="111D38"/>
          </a:solidFill>
          <a:ln w="6350">
            <a:solidFill>
              <a:srgbClr val="1A2D55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9436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disperso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685032"/>
            <a:ext cx="274320" cy="2743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754880" y="3566160"/>
            <a:ext cx="3931920" cy="548640"/>
          </a:xfrm>
          <a:prstGeom prst="roundRect">
            <a:avLst/>
          </a:prstGeom>
          <a:solidFill>
            <a:srgbClr val="0D2A4A"/>
          </a:solidFill>
          <a:ln w="6350">
            <a:solidFill>
              <a:srgbClr val="1A3D66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89204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institucional centralizado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57200" y="4206240"/>
            <a:ext cx="3931920" cy="548640"/>
          </a:xfrm>
          <a:prstGeom prst="roundRect">
            <a:avLst/>
          </a:prstGeom>
          <a:solidFill>
            <a:srgbClr val="111D38"/>
          </a:solidFill>
          <a:ln w="6350">
            <a:solidFill>
              <a:srgbClr val="1A2D55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94360" y="4206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da disponibilidade da equipe</a:t>
            </a:r>
            <a:endParaRPr lang="en-US" sz="12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4325112"/>
            <a:ext cx="274320" cy="27432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4754880" y="4206240"/>
            <a:ext cx="3931920" cy="548640"/>
          </a:xfrm>
          <a:prstGeom prst="roundRect">
            <a:avLst/>
          </a:prstGeom>
          <a:solidFill>
            <a:srgbClr val="0D2A4A"/>
          </a:solidFill>
          <a:ln w="6350">
            <a:solidFill>
              <a:srgbClr val="1A3D66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4892040" y="4206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nível disponível continuamente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SOLUÇÃO PODE SER UTILIZADA?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2651760" cy="365760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D4FF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325880" y="1280160"/>
            <a:ext cx="914400" cy="914400"/>
          </a:xfrm>
          <a:prstGeom prst="ellipse">
            <a:avLst/>
          </a:prstGeom>
          <a:solidFill>
            <a:srgbClr val="0D1D35"/>
          </a:solidFill>
          <a:ln w="25400">
            <a:solidFill>
              <a:srgbClr val="00D4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46304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Alunos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85800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sistemas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sobre serviços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91840" y="1051560"/>
            <a:ext cx="2651760" cy="365760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16200000">
              <a:srgbClr val="A855F7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160520" y="1280160"/>
            <a:ext cx="914400" cy="914400"/>
          </a:xfrm>
          <a:prstGeom prst="ellipse">
            <a:avLst/>
          </a:prstGeom>
          <a:solidFill>
            <a:srgbClr val="0D1D35"/>
          </a:solidFill>
          <a:ln w="25400">
            <a:solidFill>
              <a:srgbClr val="A855F7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6304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2900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Servidores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3520440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institucionais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 internos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Orientações técnicas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126480" y="1051560"/>
            <a:ext cx="2651760" cy="365760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D4FF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995160" y="1280160"/>
            <a:ext cx="914400" cy="914400"/>
          </a:xfrm>
          <a:prstGeom prst="ellipse">
            <a:avLst/>
          </a:prstGeom>
          <a:solidFill>
            <a:srgbClr val="0D1D35"/>
          </a:solidFill>
          <a:ln w="25400">
            <a:solidFill>
              <a:srgbClr val="00D4F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46304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6364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Helpdesk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355080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rápida à documentação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ao diagnóstico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procedimentos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das orientações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VALOR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697480" cy="347472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D4FF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344168" y="1463040"/>
            <a:ext cx="914400" cy="914400"/>
          </a:xfrm>
          <a:prstGeom prst="ellipse">
            <a:avLst/>
          </a:prstGeom>
          <a:solidFill>
            <a:srgbClr val="0D1D35"/>
          </a:solidFill>
          <a:ln w="25400">
            <a:solidFill>
              <a:srgbClr val="00D4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64592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Eficiência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0080" y="30632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drasticamente o tempo gasto pela equipe em dúvidas repetitivas e procedimentos recorrentes.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337560" y="1188720"/>
            <a:ext cx="2697480" cy="347472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16200000">
              <a:srgbClr val="A855F7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24528" y="1463040"/>
            <a:ext cx="914400" cy="914400"/>
          </a:xfrm>
          <a:prstGeom prst="ellipse">
            <a:avLst/>
          </a:prstGeom>
          <a:solidFill>
            <a:srgbClr val="0D1D35"/>
          </a:solidFill>
          <a:ln w="25400">
            <a:solidFill>
              <a:srgbClr val="A855F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64592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74720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Experiência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3520440" y="30632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recebe resposta imediata 24/7 para casos simples, sem precisar aguardar na fila.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217920" y="1188720"/>
            <a:ext cx="2697480" cy="347472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D4FF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104888" y="1463040"/>
            <a:ext cx="914400" cy="914400"/>
          </a:xfrm>
          <a:prstGeom prst="ellipse">
            <a:avLst/>
          </a:prstGeom>
          <a:solidFill>
            <a:srgbClr val="0D1D35"/>
          </a:solidFill>
          <a:ln w="25400">
            <a:solidFill>
              <a:srgbClr val="00D4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164592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55080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6400800" y="30632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técnica se concentra em problemas que realmente exigem conhecimento especializado.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82880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731520" y="1371600"/>
            <a:ext cx="7680960" cy="731520"/>
          </a:xfrm>
          <a:prstGeom prst="roundRect">
            <a:avLst/>
          </a:prstGeom>
          <a:solidFill>
            <a:srgbClr val="111D3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D4FF">
                <a:alpha val="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914400" y="1463040"/>
            <a:ext cx="548640" cy="5486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Text 3"/>
          <p:cNvSpPr/>
          <p:nvPr/>
        </p:nvSpPr>
        <p:spPr>
          <a:xfrm>
            <a:off x="9144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508760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19456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2194560" y="1737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Refinamento do protótipo funcional com base em feedback da equipe e dos usuários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731520" y="2240280"/>
            <a:ext cx="7680960" cy="731520"/>
          </a:xfrm>
          <a:prstGeom prst="roundRect">
            <a:avLst/>
          </a:prstGeom>
          <a:solidFill>
            <a:srgbClr val="111D38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50800" dir="16200000">
              <a:srgbClr val="A855F7">
                <a:alpha val="8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914400" y="2331720"/>
            <a:ext cx="548640" cy="5486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3" name="Text 8"/>
          <p:cNvSpPr/>
          <p:nvPr/>
        </p:nvSpPr>
        <p:spPr>
          <a:xfrm>
            <a:off x="91440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237744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19456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2194560" y="2606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os sistemas e bases de conhecimento da universidade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31520" y="3108960"/>
            <a:ext cx="7680960" cy="731520"/>
          </a:xfrm>
          <a:prstGeom prst="roundRect">
            <a:avLst/>
          </a:prstGeom>
          <a:solidFill>
            <a:srgbClr val="111D3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D4FF">
                <a:alpha val="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914400" y="3200400"/>
            <a:ext cx="548640" cy="5486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9" name="Text 13"/>
          <p:cNvSpPr/>
          <p:nvPr/>
        </p:nvSpPr>
        <p:spPr>
          <a:xfrm>
            <a:off x="9144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324612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19456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2194560" y="3474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da equipe do Helpdesk e alimentação da base de conhecimento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31520" y="3977640"/>
            <a:ext cx="7680960" cy="731520"/>
          </a:xfrm>
          <a:prstGeom prst="roundRect">
            <a:avLst/>
          </a:prstGeom>
          <a:solidFill>
            <a:srgbClr val="111D38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50800" dir="16200000">
              <a:srgbClr val="A855F7">
                <a:alpha val="8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914400" y="4069080"/>
            <a:ext cx="548640" cy="5486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5" name="Text 18"/>
          <p:cNvSpPr/>
          <p:nvPr/>
        </p:nvSpPr>
        <p:spPr>
          <a:xfrm>
            <a:off x="91440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20" y="411480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19456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2194560" y="4343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produção com monitoramento e suporte contínuo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ORÁCULO FUNCIONA POR DENTRO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2651760" cy="365760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D4FF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325880" y="1280160"/>
            <a:ext cx="914400" cy="914400"/>
          </a:xfrm>
          <a:prstGeom prst="ellipse">
            <a:avLst/>
          </a:prstGeom>
          <a:solidFill>
            <a:srgbClr val="0D1D35"/>
          </a:solidFill>
          <a:ln w="25400">
            <a:solidFill>
              <a:srgbClr val="00D4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46304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Roteamento Inteligente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85800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em milissegundos quem responde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regras, IA e busca semântica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pergunta fica sem destino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para um humano se preciso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91840" y="1051560"/>
            <a:ext cx="2651760" cy="365760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16200000">
              <a:srgbClr val="A855F7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160520" y="1280160"/>
            <a:ext cx="914400" cy="914400"/>
          </a:xfrm>
          <a:prstGeom prst="ellipse">
            <a:avLst/>
          </a:prstGeom>
          <a:solidFill>
            <a:srgbClr val="0D1D35"/>
          </a:solidFill>
          <a:ln w="25400">
            <a:solidFill>
              <a:srgbClr val="A855F7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6304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2900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Especializados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3520440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acadêmico e institucional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ao SIGAA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e consulta de chamados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conversação natural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126480" y="1051560"/>
            <a:ext cx="2651760" cy="365760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D4FF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995160" y="1280160"/>
            <a:ext cx="914400" cy="914400"/>
          </a:xfrm>
          <a:prstGeom prst="ellipse">
            <a:avLst/>
          </a:prstGeom>
          <a:solidFill>
            <a:srgbClr val="0D1D35"/>
          </a:solidFill>
          <a:ln w="25400">
            <a:solidFill>
              <a:srgbClr val="00D4F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46304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6364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Híbrida (RAG)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355080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busca por palavra-chave e significado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aponta a fonte do documento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por curso, campus e setor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 a cada documento ingerido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74320"/>
            <a:ext cx="762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+ PESQUISA</a:t>
            </a:r>
            <a:endParaRPr lang="en-US" sz="2600" dirty="0"/>
          </a:p>
        </p:txBody>
      </p:sp>
      <p:sp>
        <p:nvSpPr>
          <p:cNvPr id="5" name="Text 1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Oráculo não é só um chatbot que responde perguntas: é o mesmo motor que organiza e indexa o conhecimento da universidade. A base que atende o aluno no WhatsApp é a mesma que a equipe técnica pode consultar para pesquisar.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457200" y="1965960"/>
            <a:ext cx="3840480" cy="283464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D4FF">
                <a:alpha val="15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731520" y="26060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no WhatsApp, sem instalar nada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24 horas, todos os dias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 linguagem natural, sem menus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para um humano quando necessário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4846320" y="1965960"/>
            <a:ext cx="3840480" cy="283464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16200000">
              <a:srgbClr val="A855F7">
                <a:alpha val="15000"/>
              </a:srgbClr>
            </a:outerShdw>
          </a:effectLst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4884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4068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5120640" y="26060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 calendários, editais e manuais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ingerindo a Wiki do CTIC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resposta aponta o documento de origem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 a cada novo material ingerido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SÓ UMA IDEIA DE SLIDE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697480" cy="347472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D4FF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344168" y="1463040"/>
            <a:ext cx="914400" cy="914400"/>
          </a:xfrm>
          <a:prstGeom prst="ellipse">
            <a:avLst/>
          </a:prstGeom>
          <a:solidFill>
            <a:srgbClr val="0D1D3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7" name="Stat 1"/>
          <p:cNvSpPr/>
          <p:nvPr/>
        </p:nvSpPr>
        <p:spPr>
          <a:xfrm>
            <a:off x="1344168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94360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 Registrados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0080" y="30632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meses de desenvolvimento contínuo e versionado, de março a agosto de 2026.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337560" y="1188720"/>
            <a:ext cx="2697480" cy="347472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16200000">
              <a:srgbClr val="A855F7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24528" y="1463040"/>
            <a:ext cx="914400" cy="914400"/>
          </a:xfrm>
          <a:prstGeom prst="ellipse">
            <a:avLst/>
          </a:prstGeom>
          <a:solidFill>
            <a:srgbClr val="0D1D35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2" name="Stat 2"/>
          <p:cNvSpPr/>
          <p:nvPr/>
        </p:nvSpPr>
        <p:spPr>
          <a:xfrm>
            <a:off x="4224528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8"/>
          <p:cNvSpPr/>
          <p:nvPr/>
        </p:nvSpPr>
        <p:spPr>
          <a:xfrm>
            <a:off x="3474720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 Ativas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3520440" y="30632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pesquisa e ambiente Windows testados em paralelo, sem travar o protótipo principal.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217920" y="1188720"/>
            <a:ext cx="2697480" cy="3474720"/>
          </a:xfrm>
          <a:prstGeom prst="roundRect">
            <a:avLst/>
          </a:prstGeom>
          <a:solidFill>
            <a:srgbClr val="111D38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D4FF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104888" y="1463040"/>
            <a:ext cx="914400" cy="914400"/>
          </a:xfrm>
          <a:prstGeom prst="ellipse">
            <a:avLst/>
          </a:prstGeom>
          <a:solidFill>
            <a:srgbClr val="0D1D3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7" name="Stat 3"/>
          <p:cNvSpPr/>
          <p:nvPr/>
        </p:nvSpPr>
        <p:spPr>
          <a:xfrm>
            <a:off x="7104888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2"/>
          <p:cNvSpPr/>
          <p:nvPr/>
        </p:nvSpPr>
        <p:spPr>
          <a:xfrm>
            <a:off x="6355080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Integrados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6400800" y="30632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SIGAA, GLPI e a Wiki do CTIC já conversam com o mesmo agente.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2026-08-13T21:31:02Z</dcterms:created>
  <dcterms:modified xsi:type="dcterms:W3CDTF">2026-08-13T21:31:02Z</dcterms:modified>
</cp:coreProperties>
</file>